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ckup conceptual de Festival He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>
              <a:alpha val="47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90A0F">
              <a:alpha val="92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6656" y="822960"/>
            <a:ext cx="100584" cy="46177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9326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 COMERCIAL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7552" y="13258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HEIST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024128" y="32004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concepto social a activación, descubrimiento y aprendizaje.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24128" y="42976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para sponsors, aliados estratégicos e inversores.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24128" y="5230368"/>
            <a:ext cx="2761488" cy="338328"/>
          </a:xfrm>
          <a:prstGeom prst="roundRect">
            <a:avLst>
              <a:gd name="adj" fmla="val 13514"/>
            </a:avLst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5326380"/>
            <a:ext cx="2615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PRINCIPAL DEL PILOTO</a:t>
            </a:r>
            <a:endParaRPr lang="en-US" sz="740" dirty="0"/>
          </a:p>
        </p:txBody>
      </p:sp>
      <p:sp>
        <p:nvSpPr>
          <p:cNvPr id="12" name="Shape 9"/>
          <p:cNvSpPr/>
          <p:nvPr/>
        </p:nvSpPr>
        <p:spPr>
          <a:xfrm>
            <a:off x="10158984" y="164592"/>
            <a:ext cx="1444752" cy="869208"/>
          </a:xfrm>
          <a:prstGeom prst="rect">
            <a:avLst/>
          </a:prstGeom>
          <a:solidFill>
            <a:srgbClr val="090A0F"/>
          </a:solidFill>
          <a:ln w="12700">
            <a:solidFill>
              <a:srgbClr val="090A0F"/>
            </a:solidFill>
            <a:prstDash val="solid"/>
          </a:ln>
        </p:spPr>
      </p:sp>
      <p:pic>
        <p:nvPicPr>
          <p:cNvPr id="13" name="Image 1" descr="Logo oficial MasAl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56032"/>
            <a:ext cx="1188720" cy="686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externa | Septiembre 2026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FESTIVAL HEIST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experiencia que convierte gustos musicales en acción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15727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persona arma el cartel de su festival ideal, lo comparte con nombres ocultos y desafía a sus amigos a descifrarlo.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4944" y="2788920"/>
            <a:ext cx="2487168" cy="2103120"/>
          </a:xfrm>
          <a:prstGeom prst="roundRect">
            <a:avLst>
              <a:gd name="adj" fmla="val 2174"/>
            </a:avLst>
          </a:prstGeom>
          <a:solidFill>
            <a:srgbClr val="12141D"/>
          </a:solidFill>
          <a:ln w="10160">
            <a:solidFill>
              <a:srgbClr val="F72585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778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544" y="3063240"/>
            <a:ext cx="457200" cy="82296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34290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23544" y="402336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Artistas y previews dentro del juego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2788920"/>
            <a:ext cx="2487168" cy="2103120"/>
          </a:xfrm>
          <a:prstGeom prst="roundRect">
            <a:avLst>
              <a:gd name="adj" fmla="val 2174"/>
            </a:avLst>
          </a:prstGeom>
          <a:solidFill>
            <a:srgbClr val="12141D"/>
          </a:solidFill>
          <a:ln w="10160">
            <a:solidFill>
              <a:srgbClr val="4CC9F0">
                <a:alpha val="65000"/>
              </a:srgbClr>
            </a:solidFill>
            <a:prstDash val="solid"/>
          </a:ln>
          <a:effectLst>
            <a:outerShdw sx="100000" sy="100000" kx="0" ky="0" algn="bl" rotWithShape="0" blurRad="483870000" dist="225806000" dir="162000000000">
              <a:srgbClr val="000000">
                <a:alpha val="18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9896" y="3063240"/>
            <a:ext cx="457200" cy="82296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34290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739896" y="402336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line-up que expresa identidad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7648" y="2788920"/>
            <a:ext cx="2487168" cy="2103120"/>
          </a:xfrm>
          <a:prstGeom prst="roundRect">
            <a:avLst>
              <a:gd name="adj" fmla="val 2174"/>
            </a:avLst>
          </a:prstGeom>
          <a:solidFill>
            <a:srgbClr val="12141D"/>
          </a:solidFill>
          <a:ln w="10160">
            <a:solidFill>
              <a:srgbClr val="C7F432">
                <a:alpha val="65000"/>
              </a:srgbClr>
            </a:solidFill>
            <a:prstDash val="solid"/>
          </a:ln>
          <a:effectLst>
            <a:outerShdw sx="100000" sy="100000" kx="0" ky="0" algn="bl" rotWithShape="0" blurRad="6145149000000" dist="2867736200000" dir="9720000000000000">
              <a:srgbClr val="000000">
                <a:alpha val="1800000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56248" y="3063240"/>
            <a:ext cx="457200" cy="82296"/>
          </a:xfrm>
          <a:prstGeom prst="rect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34290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56248" y="402336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póster que invita a participar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2788920"/>
            <a:ext cx="2487168" cy="2103120"/>
          </a:xfrm>
          <a:prstGeom prst="roundRect">
            <a:avLst>
              <a:gd name="adj" fmla="val 2174"/>
            </a:avLst>
          </a:prstGeom>
          <a:solidFill>
            <a:srgbClr val="12141D"/>
          </a:solidFill>
          <a:ln w="10160">
            <a:solidFill>
              <a:srgbClr val="FFE45C">
                <a:alpha val="65000"/>
              </a:srgbClr>
            </a:solidFill>
            <a:prstDash val="solid"/>
          </a:ln>
          <a:effectLst>
            <a:outerShdw sx="100000" sy="100000" kx="0" ky="0" algn="bl" rotWithShape="0" blurRad="78043392300000000" dist="36420249740000000" dir="583200000000000000000">
              <a:srgbClr val="000000">
                <a:alpha val="180000000000000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72600" y="3063240"/>
            <a:ext cx="457200" cy="82296"/>
          </a:xfrm>
          <a:prstGeom prst="rect">
            <a:avLst/>
          </a:prstGeom>
          <a:solidFill>
            <a:srgbClr val="FFE45C"/>
          </a:solidFill>
          <a:ln w="12700">
            <a:solidFill>
              <a:srgbClr val="FFE4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34290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DESAFIAR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72600" y="402336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Trivia, resultado, revancha y retorno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" y="5715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concepto y su especificación están definidos; adopción, viralidad y rendimiento deben validarse.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basada en la especificación v3.1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que exposición: cinco comportamientos observables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1828800" cy="2487168"/>
          </a:xfrm>
          <a:prstGeom prst="roundRect">
            <a:avLst>
              <a:gd name="adj" fmla="val 2500"/>
            </a:avLst>
          </a:prstGeom>
          <a:solidFill>
            <a:srgbClr val="12141D"/>
          </a:solidFill>
          <a:ln w="10160">
            <a:solidFill>
              <a:srgbClr val="F72585">
                <a:alpha val="60000"/>
              </a:srgbClr>
            </a:solidFill>
            <a:prstDash val="solid"/>
          </a:ln>
          <a:effectLst>
            <a:outerShdw sx="100000" sy="100000" kx="0" ky="0" algn="bl" rotWithShape="0" blurRad="991151082210000000000" dist="462537171698000000000" dir="3.4992e+25">
              <a:srgbClr val="000000">
                <a:alpha val="1.8e+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770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visible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560320" y="3108960"/>
            <a:ext cx="384048" cy="0"/>
          </a:xfrm>
          <a:prstGeom prst="line">
            <a:avLst/>
          </a:prstGeom>
          <a:noFill/>
          <a:ln w="25400">
            <a:solidFill>
              <a:srgbClr val="F725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1874520"/>
            <a:ext cx="1828800" cy="2487168"/>
          </a:xfrm>
          <a:prstGeom prst="roundRect">
            <a:avLst>
              <a:gd name="adj" fmla="val 2500"/>
            </a:avLst>
          </a:prstGeom>
          <a:solidFill>
            <a:srgbClr val="12141D"/>
          </a:solidFill>
          <a:ln w="10160">
            <a:solidFill>
              <a:srgbClr val="4CC9F0">
                <a:alpha val="60000"/>
              </a:srgbClr>
            </a:solidFill>
            <a:prstDash val="solid"/>
          </a:ln>
          <a:effectLst>
            <a:outerShdw sx="100000" sy="100000" kx="0" ky="0" algn="bl" rotWithShape="0" blurRad="1.2587618744067e+25" dist="5.8742220805646e+24" dir="2.09952e+30">
              <a:srgbClr val="000000">
                <a:alpha val="1.8e+2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72968" y="21488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2968" y="2770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72968" y="3401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Interés activo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818888" y="3108960"/>
            <a:ext cx="384048" cy="0"/>
          </a:xfrm>
          <a:prstGeom prst="line">
            <a:avLst/>
          </a:prstGeom>
          <a:noFill/>
          <a:ln w="2540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30368" y="1874520"/>
            <a:ext cx="1828800" cy="2487168"/>
          </a:xfrm>
          <a:prstGeom prst="roundRect">
            <a:avLst>
              <a:gd name="adj" fmla="val 2500"/>
            </a:avLst>
          </a:prstGeom>
          <a:solidFill>
            <a:srgbClr val="1B1E2B"/>
          </a:solidFill>
          <a:ln w="10160">
            <a:solidFill>
              <a:srgbClr val="C7F432">
                <a:alpha val="60000"/>
              </a:srgbClr>
            </a:solidFill>
            <a:prstDash val="solid"/>
          </a:ln>
          <a:effectLst>
            <a:outerShdw sx="100000" sy="100000" kx="0" ky="0" algn="bl" rotWithShape="0" blurRad="1.598627580496509e+29" dist="7.460262042317042e+28" dir="1.259712e+35">
              <a:srgbClr val="000000">
                <a:alpha val="1.7999999999999998e+3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31536" y="21488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31536" y="2770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31536" y="3401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 declarada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077456" y="3108960"/>
            <a:ext cx="384048" cy="0"/>
          </a:xfrm>
          <a:prstGeom prst="line">
            <a:avLst/>
          </a:prstGeom>
          <a:noFill/>
          <a:ln w="25400">
            <a:solidFill>
              <a:srgbClr val="C7F43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88936" y="1874520"/>
            <a:ext cx="1828800" cy="2487168"/>
          </a:xfrm>
          <a:prstGeom prst="roundRect">
            <a:avLst>
              <a:gd name="adj" fmla="val 2500"/>
            </a:avLst>
          </a:prstGeom>
          <a:solidFill>
            <a:srgbClr val="12141D"/>
          </a:solidFill>
          <a:ln w="10160">
            <a:solidFill>
              <a:srgbClr val="FFE45C">
                <a:alpha val="60000"/>
              </a:srgbClr>
            </a:solidFill>
            <a:prstDash val="solid"/>
          </a:ln>
          <a:effectLst>
            <a:outerShdw sx="100000" sy="100000" kx="0" ky="0" algn="bl" rotWithShape="0" blurRad="2.0302570272305663e+33" dist="9.474532793742643e+32" dir="7.558272e+39">
              <a:srgbClr val="000000">
                <a:alpha val="1.8e+3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90104" y="21488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90104" y="2770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90104" y="3401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social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336024" y="3108960"/>
            <a:ext cx="384048" cy="0"/>
          </a:xfrm>
          <a:prstGeom prst="line">
            <a:avLst/>
          </a:prstGeom>
          <a:noFill/>
          <a:ln w="25400">
            <a:solidFill>
              <a:srgbClr val="FFE4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47504" y="1874520"/>
            <a:ext cx="1828800" cy="2487168"/>
          </a:xfrm>
          <a:prstGeom prst="roundRect">
            <a:avLst>
              <a:gd name="adj" fmla="val 2500"/>
            </a:avLst>
          </a:prstGeom>
          <a:solidFill>
            <a:srgbClr val="12141D"/>
          </a:solidFill>
          <a:ln w="10160">
            <a:solidFill>
              <a:srgbClr val="F72585">
                <a:alpha val="60000"/>
              </a:srgbClr>
            </a:solidFill>
            <a:prstDash val="solid"/>
          </a:ln>
          <a:effectLst>
            <a:outerShdw sx="100000" sy="100000" kx="0" ky="0" algn="bl" rotWithShape="0" blurRad="2.578426424582819e+37" dist="1.2032656648053157e+37" dir="4.5349632000000006e+44">
              <a:srgbClr val="000000">
                <a:alpha val="1.8e+4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48672" y="21488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48672" y="2770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948672" y="3401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Revancha o creación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13232" y="516636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marcas y aliados, el valor aparece en la combinación de experiencia, contenido y medición.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atención pasiva a participación medible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DE VALOR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producto, distintos retornos posibles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17904"/>
            <a:ext cx="4617720" cy="640080"/>
          </a:xfrm>
          <a:prstGeom prst="roundRect">
            <a:avLst>
              <a:gd name="adj" fmla="val 7143"/>
            </a:avLst>
          </a:prstGeom>
          <a:solidFill>
            <a:srgbClr val="12141D"/>
          </a:solidFill>
          <a:ln w="10160">
            <a:solidFill>
              <a:srgbClr val="F72585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7190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FANS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2377440" y="17007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Juego, identidad y descubrimiento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4617720" cy="640080"/>
          </a:xfrm>
          <a:prstGeom prst="roundRect">
            <a:avLst>
              <a:gd name="adj" fmla="val 7143"/>
            </a:avLst>
          </a:prstGeom>
          <a:solidFill>
            <a:srgbClr val="12141D"/>
          </a:solidFill>
          <a:ln w="10160">
            <a:solidFill>
              <a:srgbClr val="4CC9F0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786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ARTISTAS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2377440" y="2560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Escucha, elección y tráfico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4617720" cy="640080"/>
          </a:xfrm>
          <a:prstGeom prst="roundRect">
            <a:avLst>
              <a:gd name="adj" fmla="val 7143"/>
            </a:avLst>
          </a:prstGeom>
          <a:solidFill>
            <a:srgbClr val="12141D"/>
          </a:solidFill>
          <a:ln w="10160">
            <a:solidFill>
              <a:srgbClr val="C7F432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43814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377440" y="34198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Activación, contenido y métricas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731520" y="4096512"/>
            <a:ext cx="4617720" cy="640080"/>
          </a:xfrm>
          <a:prstGeom prst="roundRect">
            <a:avLst>
              <a:gd name="adj" fmla="val 7143"/>
            </a:avLst>
          </a:prstGeom>
          <a:solidFill>
            <a:srgbClr val="12141D"/>
          </a:solidFill>
          <a:ln w="10160">
            <a:solidFill>
              <a:srgbClr val="FFE45C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2976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PROMOTORES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2377440" y="42793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Demanda, comunidades y territorios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31520" y="4956048"/>
            <a:ext cx="4617720" cy="640080"/>
          </a:xfrm>
          <a:prstGeom prst="roundRect">
            <a:avLst>
              <a:gd name="adj" fmla="val 7143"/>
            </a:avLst>
          </a:prstGeom>
          <a:solidFill>
            <a:srgbClr val="12141D"/>
          </a:solidFill>
          <a:ln w="10160">
            <a:solidFill>
              <a:srgbClr val="F7258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1572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MASALTO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2377440" y="5138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de IP, relaciones y oportunidades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035040" y="1536192"/>
            <a:ext cx="5349240" cy="4133088"/>
          </a:xfrm>
          <a:prstGeom prst="roundRect">
            <a:avLst>
              <a:gd name="adj" fmla="val 1106"/>
            </a:avLst>
          </a:prstGeom>
          <a:solidFill>
            <a:srgbClr val="1B1E2B"/>
          </a:solidFill>
          <a:ln w="1016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3.2746015592201804e+41" dist="1.5281473943027508e+41" dir="2.72097792e+49">
              <a:srgbClr val="000000">
                <a:alpha val="1.8e+4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19088" y="19019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ACTIVO CENTRAL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19088" y="248716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experiencia participativa que puede empaquetarse por campaña, evento, territorio o comunidad.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419088" y="4160520"/>
            <a:ext cx="1874520" cy="338328"/>
          </a:xfrm>
          <a:prstGeom prst="roundRect">
            <a:avLst>
              <a:gd name="adj" fmla="val 13514"/>
            </a:avLst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256532"/>
            <a:ext cx="1728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PATROCINABLE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8613648" y="4160520"/>
            <a:ext cx="1874520" cy="338328"/>
          </a:xfrm>
          <a:prstGeom prst="roundRect">
            <a:avLst>
              <a:gd name="adj" fmla="val 13514"/>
            </a:avLst>
          </a:prstGeom>
          <a:solidFill>
            <a:srgbClr val="4CC9F0"/>
          </a:solidFill>
          <a:ln w="12700">
            <a:solidFill>
              <a:srgbClr val="4CC9F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4256532"/>
            <a:ext cx="1728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LICENCIABLE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419088" y="4782312"/>
            <a:ext cx="1874520" cy="338328"/>
          </a:xfrm>
          <a:prstGeom prst="roundRect">
            <a:avLst>
              <a:gd name="adj" fmla="val 13514"/>
            </a:avLst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878324"/>
            <a:ext cx="1728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AGREGADOS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8613648" y="4782312"/>
            <a:ext cx="1874520" cy="338328"/>
          </a:xfrm>
          <a:prstGeom prst="roundRect">
            <a:avLst>
              <a:gd name="adj" fmla="val 13514"/>
            </a:avLst>
          </a:prstGeom>
          <a:solidFill>
            <a:srgbClr val="FFE45C"/>
          </a:solidFill>
          <a:ln w="12700">
            <a:solidFill>
              <a:srgbClr val="FFE45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4878324"/>
            <a:ext cx="1728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ASOCIADOS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económico no depende de una única fuente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COMERCIAL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Monetizar por capas, a medida que aparece evidencia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572768"/>
            <a:ext cx="10744200" cy="987552"/>
          </a:xfrm>
          <a:prstGeom prst="roundRect">
            <a:avLst>
              <a:gd name="adj" fmla="val 4630"/>
            </a:avLst>
          </a:prstGeom>
          <a:solidFill>
            <a:srgbClr val="1B1E2B"/>
          </a:solidFill>
          <a:ln w="10160">
            <a:solidFill>
              <a:srgbClr val="C7F432">
                <a:alpha val="75000"/>
              </a:srgbClr>
            </a:solidFill>
            <a:prstDash val="solid"/>
          </a:ln>
          <a:effectLst>
            <a:outerShdw sx="100000" sy="100000" kx="0" ky="0" algn="bl" rotWithShape="0" blurRad="4.158743980209629e+45" dist="1.9407471907644935e+45" dir="1.6325867520000003e+54">
              <a:srgbClr val="000000">
                <a:alpha val="1.8e+5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801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· PILOTO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2971800" y="17647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fundador · desafío patrocinado · producción de campaña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82128" y="177393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inventario, experiencia y reporte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713232" y="2926080"/>
            <a:ext cx="10744200" cy="987552"/>
          </a:xfrm>
          <a:prstGeom prst="roundRect">
            <a:avLst>
              <a:gd name="adj" fmla="val 4630"/>
            </a:avLst>
          </a:prstGeom>
          <a:solidFill>
            <a:srgbClr val="12141D"/>
          </a:solidFill>
          <a:ln w="10160">
            <a:solidFill>
              <a:srgbClr val="4CC9F0">
                <a:alpha val="75000"/>
              </a:srgbClr>
            </a:solidFill>
            <a:prstDash val="solid"/>
          </a:ln>
          <a:effectLst>
            <a:outerShdw sx="100000" sy="100000" kx="0" ky="0" algn="bl" rotWithShape="0" blurRad="5.281604854866228e+49" dist="2.4647489322709065e+49" dir="9.795520512000002e+58">
              <a:srgbClr val="000000">
                <a:alpha val="1.8000000000000001e+5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3154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· REPETICIÓN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2971800" y="3118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B2B · ediciones territoriales · informes agregados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82128" y="3127248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venta repetible y margen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713232" y="4279392"/>
            <a:ext cx="10744200" cy="987552"/>
          </a:xfrm>
          <a:prstGeom prst="roundRect">
            <a:avLst>
              <a:gd name="adj" fmla="val 4630"/>
            </a:avLst>
          </a:prstGeom>
          <a:solidFill>
            <a:srgbClr val="12141D"/>
          </a:solidFill>
          <a:ln w="10160">
            <a:solidFill>
              <a:srgbClr val="F72585">
                <a:alpha val="75000"/>
              </a:srgbClr>
            </a:solidFill>
            <a:prstDash val="solid"/>
          </a:ln>
          <a:effectLst>
            <a:outerShdw sx="100000" sy="100000" kx="0" ky="0" algn="bl" rotWithShape="0" blurRad="6.70763816568011e+53" dist="3.1302311439840515e+53" dir="5.877312307200001e+63">
              <a:srgbClr val="000000">
                <a:alpha val="1.8e+6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45079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· ESCALA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2971800" y="44714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Afiliación · premium · productos de datos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82128" y="448056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 volumen, permisos y retención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713232" y="57881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recomendada: vender un piloto patrocinado antes de construir un marketplace o producto de datos.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potenciales; no representan ingresos obtenidos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PATROCINABLE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formas simples de entrar al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536192"/>
            <a:ext cx="3401568" cy="4251960"/>
          </a:xfrm>
          <a:prstGeom prst="roundRect">
            <a:avLst>
              <a:gd name="adj" fmla="val 1344"/>
            </a:avLst>
          </a:prstGeom>
          <a:solidFill>
            <a:srgbClr val="1B1E2B"/>
          </a:solidFill>
          <a:ln w="10160">
            <a:solidFill>
              <a:srgbClr val="C7F432">
                <a:alpha val="85000"/>
              </a:srgbClr>
            </a:solidFill>
            <a:prstDash val="solid"/>
          </a:ln>
          <a:effectLst>
            <a:outerShdw sx="100000" sy="100000" kx="0" ky="0" algn="bl" rotWithShape="0" blurRad="8.518700470413739e+57" dist="3.975393552859745e+57" dir="3.526387384320001e+68">
              <a:srgbClr val="000000">
                <a:alpha val="1.8e+6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874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PRINCIPAL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87552" y="2770632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16736" y="269748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 institucional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987552" y="3355848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328269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integrada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987552" y="3941064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386791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coordinada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987552" y="4526280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445312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ejecutivo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507992" y="1536192"/>
            <a:ext cx="3401568" cy="4251960"/>
          </a:xfrm>
          <a:prstGeom prst="roundRect">
            <a:avLst>
              <a:gd name="adj" fmla="val 1344"/>
            </a:avLst>
          </a:prstGeom>
          <a:solidFill>
            <a:srgbClr val="12141D"/>
          </a:solidFill>
          <a:ln w="10160">
            <a:solidFill>
              <a:srgbClr val="4CC9F0">
                <a:alpha val="85000"/>
              </a:srgbClr>
            </a:solidFill>
            <a:prstDash val="solid"/>
          </a:ln>
          <a:effectLst>
            <a:outerShdw sx="100000" sy="100000" kx="0" ky="0" algn="bl" rotWithShape="0" blurRad="1.081874959742545e+62" dist="5.0487498121318765e+61" dir="2.1158324305920003e+73">
              <a:srgbClr val="000000">
                <a:alpha val="1.8000000000000002e+7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82312" y="1874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ALIADO DE ESCENARIO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782312" y="2770632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1496" y="269748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o edición temática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782312" y="3355848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328269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delimitada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782312" y="3941064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386791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atribuible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782312" y="4526280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445312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interacción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302752" y="1536192"/>
            <a:ext cx="3401568" cy="4251960"/>
          </a:xfrm>
          <a:prstGeom prst="roundRect">
            <a:avLst>
              <a:gd name="adj" fmla="val 1344"/>
            </a:avLst>
          </a:prstGeom>
          <a:solidFill>
            <a:srgbClr val="12141D"/>
          </a:solidFill>
          <a:ln w="10160">
            <a:solidFill>
              <a:srgbClr val="F72585">
                <a:alpha val="85000"/>
              </a:srgbClr>
            </a:solidFill>
            <a:prstDash val="solid"/>
          </a:ln>
          <a:effectLst>
            <a:outerShdw sx="100000" sy="100000" kx="0" ky="0" algn="bl" rotWithShape="0" blurRad="1.373981198873032e+66" dist="6.411912261407483e+65" dir="1.2694994583552002e+78">
              <a:srgbClr val="000000">
                <a:alpha val="1.8000000000000003e+7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77072" y="1874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ALIADO DE ACTIVACIÓN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577072" y="2770632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06256" y="269748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 o recompensa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577072" y="3355848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06256" y="328269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Piezas para canales propios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577072" y="3941064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06256" y="386791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o código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577072" y="4526280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06256" y="445312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campaña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713232" y="60167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y exclusividades se cotizan según activos, duración, distribución, soporte y derechos.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orientativos sin precios ni resultados prometidos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 ECONÓMICO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directos y valor indirecto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536192"/>
            <a:ext cx="5285232" cy="4480560"/>
          </a:xfrm>
          <a:prstGeom prst="roundRect">
            <a:avLst>
              <a:gd name="adj" fmla="val 1020"/>
            </a:avLst>
          </a:prstGeom>
          <a:solidFill>
            <a:srgbClr val="1B1E2B"/>
          </a:solidFill>
          <a:ln w="10160">
            <a:solidFill>
              <a:srgbClr val="C7F432">
                <a:alpha val="70000"/>
              </a:srgbClr>
            </a:solidFill>
            <a:prstDash val="solid"/>
          </a:ln>
          <a:effectLst>
            <a:outerShdw sx="100000" sy="100000" kx="0" ky="0" algn="bl" rotWithShape="0" blurRad="1.7449561225687507e+70" dist="8.143128571987503e+69" dir="7.616996750131201e+82">
              <a:srgbClr val="000000">
                <a:alpha val="1.8000000000000004e+8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51560" y="2651760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0744" y="257860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de patrocinio y activación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1051560" y="3218688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0744" y="31455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y operación de campañas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1051560" y="3785616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0744" y="371246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B2B o white-label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1051560" y="4352544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0744" y="427939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premium agregados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1051560" y="4919472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0744" y="484632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Comisiones por acciones atribuibles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199632" y="1536192"/>
            <a:ext cx="5266944" cy="4480560"/>
          </a:xfrm>
          <a:prstGeom prst="roundRect">
            <a:avLst>
              <a:gd name="adj" fmla="val 1020"/>
            </a:avLst>
          </a:prstGeom>
          <a:solidFill>
            <a:srgbClr val="12141D"/>
          </a:solidFill>
          <a:ln w="10160">
            <a:solidFill>
              <a:srgbClr val="4CC9F0">
                <a:alpha val="70000"/>
              </a:srgbClr>
            </a:solidFill>
            <a:prstDash val="solid"/>
          </a:ln>
          <a:effectLst>
            <a:outerShdw sx="100000" sy="100000" kx="0" ky="0" algn="bl" rotWithShape="0" blurRad="2.2160942756623134e+74" dist="1.0341773286424129e+74" dir="4.57019805007872e+87">
              <a:srgbClr val="000000">
                <a:alpha val="1.8000000000000005e+8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INDIRECTO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537960" y="2651760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2578608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costo de investigación inicial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537960" y="3218688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3145536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de shows y producción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537960" y="3785616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3712464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opt-in potencial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537960" y="4352544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4279392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y relaciones reutilizables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537960" y="4919472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4846320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priorización de artistas y plazas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potenciales sujetos a validación y acuerdos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ckup conceptual de Festival He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>
              <a:alpha val="63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90A0F">
              <a:alpha val="93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VERÍA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marca dentro de la experiencia, sin adueñarse de ella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31520" y="2468880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0704" y="239572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identificada como patrocinio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31520" y="3090672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0704" y="301752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Mecánica o recompensa con utilidad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31520" y="3712464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639312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medible y destino acordado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31520" y="4334256"/>
            <a:ext cx="146304" cy="146304"/>
          </a:xfrm>
          <a:prstGeom prst="ellipse">
            <a:avLst/>
          </a:prstGeom>
          <a:solidFill>
            <a:srgbClr val="FFE45C"/>
          </a:solidFill>
          <a:ln w="12700">
            <a:solidFill>
              <a:srgbClr val="FFE4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426110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limitada por sesión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31520" y="5266944"/>
            <a:ext cx="1810512" cy="338328"/>
          </a:xfrm>
          <a:prstGeom prst="roundRect">
            <a:avLst>
              <a:gd name="adj" fmla="val 13514"/>
            </a:avLst>
          </a:prstGeom>
          <a:solidFill>
            <a:srgbClr val="FFE45C"/>
          </a:solidFill>
          <a:ln w="12700">
            <a:solidFill>
              <a:srgbClr val="FFE4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5362956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CONCEPTUAL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731520" y="58064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representa una integración implementada ni una marca contratada.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10158984" y="164592"/>
            <a:ext cx="1444752" cy="869208"/>
          </a:xfrm>
          <a:prstGeom prst="rect">
            <a:avLst/>
          </a:prstGeom>
          <a:solidFill>
            <a:srgbClr val="090A0F"/>
          </a:solidFill>
          <a:ln w="12700">
            <a:solidFill>
              <a:srgbClr val="090A0F"/>
            </a:solidFill>
            <a:prstDash val="solid"/>
          </a:ln>
        </p:spPr>
      </p:sp>
      <p:pic>
        <p:nvPicPr>
          <p:cNvPr id="19" name="Image 1" descr="Logo oficial MasAl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56032"/>
            <a:ext cx="1188720" cy="68632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visual de activación patrocinada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ckup conceptual de Festival He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>
              <a:alpha val="62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90A0F">
              <a:alpha val="95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PUEDE MEDIR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alcance al comportamiento y la atribución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49808" y="23317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31720" y="23042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e inicio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749808" y="293522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29077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y finalización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49808" y="35387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PROPAGACIÓN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331720" y="35112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Share, apertura y desafío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49808" y="41422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DESCUBRIMIENTO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331720" y="41148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Preview, elección y clic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749808" y="474573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331720" y="47183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Impresión, acción y conversión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446520" y="1417320"/>
            <a:ext cx="4892040" cy="658368"/>
          </a:xfrm>
          <a:prstGeom prst="roundRect">
            <a:avLst>
              <a:gd name="adj" fmla="val 6944"/>
            </a:avLst>
          </a:prstGeom>
          <a:solidFill>
            <a:srgbClr val="FFE45C"/>
          </a:solidFill>
          <a:ln w="10160">
            <a:solidFill>
              <a:srgbClr val="FFE4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0" y="1655064"/>
            <a:ext cx="4434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CONCEPTUAL · SIN DATOS REALES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55080" y="5532120"/>
            <a:ext cx="4983480" cy="566928"/>
          </a:xfrm>
          <a:prstGeom prst="roundRect">
            <a:avLst>
              <a:gd name="adj" fmla="val 8065"/>
            </a:avLst>
          </a:prstGeom>
          <a:solidFill>
            <a:srgbClr val="FFE45C"/>
          </a:solidFill>
          <a:ln w="10160">
            <a:solidFill>
              <a:srgbClr val="FFE4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5733288"/>
            <a:ext cx="4526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REPORTE · DATOS SIMULADOS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10158984" y="164592"/>
            <a:ext cx="1444752" cy="869208"/>
          </a:xfrm>
          <a:prstGeom prst="rect">
            <a:avLst/>
          </a:prstGeom>
          <a:solidFill>
            <a:srgbClr val="090A0F"/>
          </a:solidFill>
          <a:ln w="12700">
            <a:solidFill>
              <a:srgbClr val="090A0F"/>
            </a:solidFill>
            <a:prstDash val="solid"/>
          </a:ln>
        </p:spPr>
      </p:sp>
      <p:pic>
        <p:nvPicPr>
          <p:cNvPr id="22" name="Image 1" descr="Logo oficial MasAl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56032"/>
            <a:ext cx="1188720" cy="68632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conceptual; el MVP debe instrumentar estos eventos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CRECIMIENTO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actor ayuda a que el siguiente tenga más valor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2029968" cy="868680"/>
          </a:xfrm>
          <a:prstGeom prst="roundRect">
            <a:avLst>
              <a:gd name="adj" fmla="val 5263"/>
            </a:avLst>
          </a:prstGeom>
          <a:solidFill>
            <a:srgbClr val="1B1E2B"/>
          </a:solidFill>
          <a:ln w="10160">
            <a:solidFill>
              <a:srgbClr val="C7F432">
                <a:alpha val="85000"/>
              </a:srgbClr>
            </a:solidFill>
            <a:prstDash val="solid"/>
          </a:ln>
          <a:effectLst>
            <a:outerShdw sx="100000" sy="100000" kx="0" ky="0" algn="bl" rotWithShape="0" blurRad="2.814439730091138e+78" dist="1.3134052073758645e+78" dir="2.742118830047232e+92">
              <a:srgbClr val="000000">
                <a:alpha val="1.8000000000000007e+9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54203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84378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 activación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3063240" y="1417320"/>
            <a:ext cx="2029968" cy="868680"/>
          </a:xfrm>
          <a:prstGeom prst="roundRect">
            <a:avLst>
              <a:gd name="adj" fmla="val 5263"/>
            </a:avLst>
          </a:prstGeom>
          <a:solidFill>
            <a:srgbClr val="1B1E2B"/>
          </a:solidFill>
          <a:ln w="10160">
            <a:solidFill>
              <a:srgbClr val="4CC9F0">
                <a:alpha val="85000"/>
              </a:srgbClr>
            </a:solidFill>
            <a:prstDash val="solid"/>
          </a:ln>
          <a:effectLst>
            <a:outerShdw sx="100000" sy="100000" kx="0" ky="0" algn="bl" rotWithShape="0" blurRad="3.574338457215745e+82" dist="1.668024613367348e+82" dir="1.6452712980283393e+97">
              <a:srgbClr val="000000">
                <a:alpha val="1.8000000000000008e+9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62763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192938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 a la audiencia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5870448" y="1417320"/>
            <a:ext cx="2029968" cy="868680"/>
          </a:xfrm>
          <a:prstGeom prst="roundRect">
            <a:avLst>
              <a:gd name="adj" fmla="val 5263"/>
            </a:avLst>
          </a:prstGeom>
          <a:solidFill>
            <a:srgbClr val="1B1E2B"/>
          </a:solidFill>
          <a:ln w="10160">
            <a:solidFill>
              <a:srgbClr val="F72585">
                <a:alpha val="85000"/>
              </a:srgbClr>
            </a:solidFill>
            <a:prstDash val="solid"/>
          </a:ln>
          <a:effectLst>
            <a:outerShdw sx="100000" sy="100000" kx="0" ky="0" algn="bl" rotWithShape="0" blurRad="4.539409840663996e+86" dist="2.118391258976532e+86" dir="9.871627788170037e+101">
              <a:srgbClr val="000000">
                <a:alpha val="1.800000000000001e+10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07608" y="162763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07608" y="192938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Distribuyen el juego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8641080" y="2331720"/>
            <a:ext cx="2029968" cy="868680"/>
          </a:xfrm>
          <a:prstGeom prst="roundRect">
            <a:avLst>
              <a:gd name="adj" fmla="val 5263"/>
            </a:avLst>
          </a:prstGeom>
          <a:solidFill>
            <a:srgbClr val="1B1E2B"/>
          </a:solidFill>
          <a:ln w="10160">
            <a:solidFill>
              <a:srgbClr val="FFE45C">
                <a:alpha val="85000"/>
              </a:srgbClr>
            </a:solidFill>
            <a:prstDash val="solid"/>
          </a:ln>
          <a:effectLst>
            <a:outerShdw sx="100000" sy="100000" kx="0" ky="0" algn="bl" rotWithShape="0" blurRad="5.765050497643275e+90" dist="2.6903568989001956e+90" dir="5.9229766729020215e+106">
              <a:srgbClr val="000000">
                <a:alpha val="1.800000000000001e+10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254203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78240" y="284378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Mejoran decisiones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5870448" y="4251960"/>
            <a:ext cx="2029968" cy="868680"/>
          </a:xfrm>
          <a:prstGeom prst="roundRect">
            <a:avLst>
              <a:gd name="adj" fmla="val 5263"/>
            </a:avLst>
          </a:prstGeom>
          <a:solidFill>
            <a:srgbClr val="1B1E2B"/>
          </a:solidFill>
          <a:ln w="10160">
            <a:solidFill>
              <a:srgbClr val="C7F432">
                <a:alpha val="85000"/>
              </a:srgbClr>
            </a:solidFill>
            <a:prstDash val="solid"/>
          </a:ln>
          <a:effectLst>
            <a:outerShdw sx="100000" sy="100000" kx="0" ky="0" algn="bl" rotWithShape="0" blurRad="7.321614132006959e+94" dist="3.416753261603248e+94" dir="3.553786003741213e+111">
              <a:srgbClr val="000000">
                <a:alpha val="1.800000000000001e+11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07608" y="446227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OFERTA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07608" y="476402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 repetición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3063240" y="4251960"/>
            <a:ext cx="2029968" cy="868680"/>
          </a:xfrm>
          <a:prstGeom prst="roundRect">
            <a:avLst>
              <a:gd name="adj" fmla="val 5263"/>
            </a:avLst>
          </a:prstGeom>
          <a:solidFill>
            <a:srgbClr val="1B1E2B"/>
          </a:solidFill>
          <a:ln w="10160">
            <a:solidFill>
              <a:srgbClr val="4CC9F0">
                <a:alpha val="85000"/>
              </a:srgbClr>
            </a:solidFill>
            <a:prstDash val="solid"/>
          </a:ln>
          <a:effectLst>
            <a:outerShdw sx="100000" sy="100000" kx="0" ky="0" algn="bl" rotWithShape="0" blurRad="9.298449947648839e+98" dist="4.3392766422361255e+98" dir="2.1322716022447277e+116">
              <a:srgbClr val="000000">
                <a:alpha val="1.800000000000001e+11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446227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MASALTO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0" y="476402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 y conecta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2788920" y="2560320"/>
            <a:ext cx="201168" cy="-384048"/>
          </a:xfrm>
          <a:prstGeom prst="line">
            <a:avLst/>
          </a:prstGeom>
          <a:noFill/>
          <a:ln w="2540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66360" y="1810512"/>
            <a:ext cx="475488" cy="0"/>
          </a:xfrm>
          <a:prstGeom prst="line">
            <a:avLst/>
          </a:prstGeom>
          <a:noFill/>
          <a:ln w="2540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73568" y="1828800"/>
            <a:ext cx="438912" cy="502920"/>
          </a:xfrm>
          <a:prstGeom prst="line">
            <a:avLst/>
          </a:prstGeom>
          <a:noFill/>
          <a:ln w="2540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35440" y="3364992"/>
            <a:ext cx="-1078992" cy="713232"/>
          </a:xfrm>
          <a:prstGeom prst="line">
            <a:avLst/>
          </a:prstGeom>
          <a:noFill/>
          <a:ln w="2540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15000" y="4645152"/>
            <a:ext cx="-475488" cy="0"/>
          </a:xfrm>
          <a:prstGeom prst="line">
            <a:avLst/>
          </a:prstGeom>
          <a:noFill/>
          <a:ln w="2540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26080" y="4617720"/>
            <a:ext cx="-1042416" cy="-1298448"/>
          </a:xfrm>
          <a:prstGeom prst="line">
            <a:avLst/>
          </a:prstGeom>
          <a:noFill/>
          <a:ln w="2540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13232" y="585216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es una hipótesis estratégica: debe comprobarse con repetición comercial y comportamiento real.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Flywheel potencial de producto y negocio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IMPLICANCIAS PARA EL MVP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comercial debe medirse desde el primer piloto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481328"/>
            <a:ext cx="3401568" cy="4480560"/>
          </a:xfrm>
          <a:prstGeom prst="roundRect">
            <a:avLst>
              <a:gd name="adj" fmla="val 1344"/>
            </a:avLst>
          </a:prstGeom>
          <a:solidFill>
            <a:srgbClr val="1B1E2B"/>
          </a:solidFill>
          <a:ln w="10160">
            <a:solidFill>
              <a:srgbClr val="C7F432">
                <a:alpha val="80000"/>
              </a:srgbClr>
            </a:solidFill>
            <a:prstDash val="solid"/>
          </a:ln>
          <a:effectLst>
            <a:outerShdw sx="100000" sy="100000" kx="0" ky="0" algn="bl" rotWithShape="0" blurRad="1.1809031433514024e+103" dist="5.510881335639879e+102" dir="1.2793629613468366e+121">
              <a:srgbClr val="000000">
                <a:alpha val="1.800000000000001e+1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9264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69264" y="2560320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24871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y placements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969264" y="3108960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303580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con denominadores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969264" y="3657600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35844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sin sponsor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69264" y="4206240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13308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Consentimiento y frecuencia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69264" y="4754880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468172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CSV por campaña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507992" y="1481328"/>
            <a:ext cx="3401568" cy="4480560"/>
          </a:xfrm>
          <a:prstGeom prst="roundRect">
            <a:avLst>
              <a:gd name="adj" fmla="val 1344"/>
            </a:avLst>
          </a:prstGeom>
          <a:solidFill>
            <a:srgbClr val="12141D"/>
          </a:solidFill>
          <a:ln w="10160">
            <a:solidFill>
              <a:srgbClr val="4CC9F0">
                <a:alpha val="80000"/>
              </a:srgbClr>
            </a:solidFill>
            <a:prstDash val="solid"/>
          </a:ln>
          <a:effectLst>
            <a:outerShdw sx="100000" sy="100000" kx="0" ky="0" algn="bl" rotWithShape="0" blurRad="1.499746992056281e+107" dist="6.998819296262647e+106" dir="7.67617776808102e+125">
              <a:srgbClr val="000000">
                <a:alpha val="1.800000000000001e+12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64024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764024" y="2560320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24871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Experimentos A/B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764024" y="3108960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303580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básica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764024" y="3657600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35844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Exclusividad y conflictos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764024" y="4206240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413308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partner de lectura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64024" y="4754880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468172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links atribuibles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8302752" y="1481328"/>
            <a:ext cx="3401568" cy="4480560"/>
          </a:xfrm>
          <a:prstGeom prst="roundRect">
            <a:avLst>
              <a:gd name="adj" fmla="val 1344"/>
            </a:avLst>
          </a:prstGeom>
          <a:solidFill>
            <a:srgbClr val="12141D"/>
          </a:solidFill>
          <a:ln w="10160">
            <a:solidFill>
              <a:srgbClr val="F72585">
                <a:alpha val="80000"/>
              </a:srgbClr>
            </a:solidFill>
            <a:prstDash val="solid"/>
          </a:ln>
          <a:effectLst>
            <a:outerShdw sx="100000" sy="100000" kx="0" ky="0" algn="bl" rotWithShape="0" blurRad="1.904678679911477e+111" dist="8.888500506253561e+110" dir="4.605706660848612e+130">
              <a:srgbClr val="000000">
                <a:alpha val="1.800000000000001e+134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58784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8558784" y="2560320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87968" y="24871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y autoservicio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8558784" y="3108960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87968" y="303580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de inventario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558784" y="3657600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87968" y="35844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Suscripciones premium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8558784" y="4206240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87968" y="413308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de datos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8558784" y="4754880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87968" y="468172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Atribución multicanal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interna para producto, analítica y operación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VALIDACIÓN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pruebas antes de hablar de escala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1664208" cy="2514600"/>
          </a:xfrm>
          <a:prstGeom prst="roundRect">
            <a:avLst>
              <a:gd name="adj" fmla="val 2747"/>
            </a:avLst>
          </a:prstGeom>
          <a:solidFill>
            <a:srgbClr val="1B1E2B"/>
          </a:solidFill>
          <a:ln w="10160">
            <a:solidFill>
              <a:srgbClr val="F72585">
                <a:alpha val="65000"/>
              </a:srgbClr>
            </a:solidFill>
            <a:prstDash val="solid"/>
          </a:ln>
          <a:effectLst>
            <a:outerShdw sx="100000" sy="100000" kx="0" ky="0" algn="bl" rotWithShape="0" blurRad="2.418941923487576e+115" dist="1.1288395642942023e+115" dir="2.763423996509167e+135">
              <a:srgbClr val="000000">
                <a:alpha val="1.800000000000001e+1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305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35584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Completan y comparten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340864" y="3136392"/>
            <a:ext cx="228600" cy="0"/>
          </a:xfrm>
          <a:prstGeom prst="line">
            <a:avLst/>
          </a:prstGeom>
          <a:noFill/>
          <a:ln w="2159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9464" y="1874520"/>
            <a:ext cx="1664208" cy="2514600"/>
          </a:xfrm>
          <a:prstGeom prst="roundRect">
            <a:avLst>
              <a:gd name="adj" fmla="val 2747"/>
            </a:avLst>
          </a:prstGeom>
          <a:solidFill>
            <a:srgbClr val="1B1E2B"/>
          </a:solidFill>
          <a:ln w="10160">
            <a:solidFill>
              <a:srgbClr val="4CC9F0">
                <a:alpha val="65000"/>
              </a:srgbClr>
            </a:solidFill>
            <a:prstDash val="solid"/>
          </a:ln>
          <a:effectLst>
            <a:outerShdw sx="100000" sy="100000" kx="0" ky="0" algn="bl" rotWithShape="0" blurRad="3.0720562428292216e+119" dist="1.433626246653637e+119" dir="1.6580543979055002e+140">
              <a:srgbClr val="000000">
                <a:alpha val="1.800000000000001e+14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34056" y="21305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34056" y="27889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34056" y="335584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 sin molestar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251960" y="3136392"/>
            <a:ext cx="228600" cy="0"/>
          </a:xfrm>
          <a:prstGeom prst="line">
            <a:avLst/>
          </a:prstGeom>
          <a:noFill/>
          <a:ln w="2159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80560" y="1874520"/>
            <a:ext cx="1664208" cy="2514600"/>
          </a:xfrm>
          <a:prstGeom prst="roundRect">
            <a:avLst>
              <a:gd name="adj" fmla="val 2747"/>
            </a:avLst>
          </a:prstGeom>
          <a:solidFill>
            <a:srgbClr val="1B1E2B"/>
          </a:solidFill>
          <a:ln w="10160">
            <a:solidFill>
              <a:srgbClr val="C7F432">
                <a:alpha val="65000"/>
              </a:srgbClr>
            </a:solidFill>
            <a:prstDash val="solid"/>
          </a:ln>
          <a:effectLst>
            <a:outerShdw sx="100000" sy="100000" kx="0" ky="0" algn="bl" rotWithShape="0" blurRad="3.9015114283931116e+123" dist="1.820705333250119e+123" dir="9.948326387433002e+144">
              <a:srgbClr val="000000">
                <a:alpha val="1.8000000000000009e+14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21305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5152" y="27889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45152" y="335584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reproducible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163056" y="3136392"/>
            <a:ext cx="228600" cy="0"/>
          </a:xfrm>
          <a:prstGeom prst="line">
            <a:avLst/>
          </a:prstGeom>
          <a:noFill/>
          <a:ln w="2159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91656" y="1874520"/>
            <a:ext cx="1664208" cy="2514600"/>
          </a:xfrm>
          <a:prstGeom prst="roundRect">
            <a:avLst>
              <a:gd name="adj" fmla="val 2747"/>
            </a:avLst>
          </a:prstGeom>
          <a:solidFill>
            <a:srgbClr val="12141D"/>
          </a:solidFill>
          <a:ln w="10160">
            <a:solidFill>
              <a:srgbClr val="FFE45C">
                <a:alpha val="65000"/>
              </a:srgbClr>
            </a:solidFill>
            <a:prstDash val="solid"/>
          </a:ln>
          <a:effectLst>
            <a:outerShdw sx="100000" sy="100000" kx="0" ky="0" algn="bl" rotWithShape="0" blurRad="4.954919514059251e+127" dist="2.3122957732276513e+127" dir="5.968995832459801e+149">
              <a:srgbClr val="000000">
                <a:alpha val="1.800000000000001e+15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56248" y="21305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56248" y="27889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56248" y="335584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acotado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074152" y="3136392"/>
            <a:ext cx="228600" cy="0"/>
          </a:xfrm>
          <a:prstGeom prst="line">
            <a:avLst/>
          </a:prstGeom>
          <a:noFill/>
          <a:ln w="2159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02752" y="1874520"/>
            <a:ext cx="1664208" cy="2514600"/>
          </a:xfrm>
          <a:prstGeom prst="roundRect">
            <a:avLst>
              <a:gd name="adj" fmla="val 2747"/>
            </a:avLst>
          </a:prstGeom>
          <a:solidFill>
            <a:srgbClr val="12141D"/>
          </a:solidFill>
          <a:ln w="10160">
            <a:solidFill>
              <a:srgbClr val="F72585">
                <a:alpha val="65000"/>
              </a:srgbClr>
            </a:solidFill>
            <a:prstDash val="solid"/>
          </a:ln>
          <a:effectLst>
            <a:outerShdw sx="100000" sy="100000" kx="0" ky="0" algn="bl" rotWithShape="0" blurRad="6.2927477828552495e+131" dist="2.9366156319991172e+131" dir="3.581397499475881e+154">
              <a:srgbClr val="000000">
                <a:alpha val="1.800000000000001e+15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67344" y="21305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67344" y="27889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REPETICIÓN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67344" y="335584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venta estándar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9985248" y="3136392"/>
            <a:ext cx="228600" cy="0"/>
          </a:xfrm>
          <a:prstGeom prst="line">
            <a:avLst/>
          </a:prstGeom>
          <a:noFill/>
          <a:ln w="21590">
            <a:solidFill>
              <a:srgbClr val="CDD0D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213848" y="1874520"/>
            <a:ext cx="1664208" cy="2514600"/>
          </a:xfrm>
          <a:prstGeom prst="roundRect">
            <a:avLst>
              <a:gd name="adj" fmla="val 2747"/>
            </a:avLst>
          </a:prstGeom>
          <a:solidFill>
            <a:srgbClr val="12141D"/>
          </a:solidFill>
          <a:ln w="10160">
            <a:solidFill>
              <a:srgbClr val="4CC9F0">
                <a:alpha val="65000"/>
              </a:srgbClr>
            </a:solidFill>
            <a:prstDash val="solid"/>
          </a:ln>
          <a:effectLst>
            <a:outerShdw sx="100000" sy="100000" kx="0" ky="0" algn="bl" rotWithShape="0" blurRad="7.991789684226167e+135" dist="3.7295018526388786e+135" dir="2.1488384996855287e+159">
              <a:srgbClr val="000000">
                <a:alpha val="1.800000000000001e+16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378440" y="21305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378440" y="27889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378440" y="335584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y margen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713232" y="5166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 de inversión defendible: producto usado + campaña medida + cliente dispuesto a repetir.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de reducción de riesgo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OPORTUNIDAD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piloto concreto, dos formas de participación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444752"/>
            <a:ext cx="5266944" cy="4526280"/>
          </a:xfrm>
          <a:prstGeom prst="roundRect">
            <a:avLst>
              <a:gd name="adj" fmla="val 1010"/>
            </a:avLst>
          </a:prstGeom>
          <a:solidFill>
            <a:srgbClr val="1B1E2B"/>
          </a:solidFill>
          <a:ln w="10160">
            <a:solidFill>
              <a:srgbClr val="C7F432">
                <a:alpha val="80000"/>
              </a:srgbClr>
            </a:solidFill>
            <a:prstDash val="solid"/>
          </a:ln>
          <a:effectLst>
            <a:outerShdw sx="100000" sy="100000" kx="0" ky="0" algn="bl" rotWithShape="0" blurRad="1.0149572898967231e+140" dist="4.7364673528513757e+139" dir="1.2893030998113172e+164">
              <a:srgbClr val="000000">
                <a:alpha val="1.800000000000001e+16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PRINCIPAL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24128" y="2633472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256032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Compra: activación, inventario y reporte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24128" y="3236976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316382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Aporta: fee o canje valorizado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24128" y="3840480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376732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Recibe: ejecución y métricas acordadas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24128" y="4443984"/>
            <a:ext cx="146304" cy="146304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437083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recibe: ROI, alcance o ventas garantizadas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44752"/>
            <a:ext cx="5266944" cy="4526280"/>
          </a:xfrm>
          <a:prstGeom prst="roundRect">
            <a:avLst>
              <a:gd name="adj" fmla="val 1010"/>
            </a:avLst>
          </a:prstGeom>
          <a:solidFill>
            <a:srgbClr val="12141D"/>
          </a:solidFill>
          <a:ln w="10160">
            <a:solidFill>
              <a:srgbClr val="4CC9F0">
                <a:alpha val="80000"/>
              </a:srgbClr>
            </a:solidFill>
            <a:prstDash val="solid"/>
          </a:ln>
          <a:effectLst>
            <a:outerShdw sx="100000" sy="100000" kx="0" ky="0" algn="bl" rotWithShape="0" blurRad="1.2889957581688384e+144" dist="6.015313538121247e+143" dir="7.735818598867904e+168">
              <a:srgbClr val="000000">
                <a:alpha val="1.800000000000001e+17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ESTRATÉGICA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37960" y="2633472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67144" y="2560320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monto sujeto a alcance y due diligence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37960" y="3236976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3163824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Destino: MVP, medición y piloto comercial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3840480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3767328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Hito: campaña medida y voluntad de repetir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4443984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4370832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Estructura: propiedad y términos por definir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3232" y="60990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Duración, distribución, responsables y criterios de éxito se acuerdan antes de cotizar.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aporte comercial no implica participación societaria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ckup conceptual de Festival He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>
              <a:alpha val="51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090A0F">
              <a:alpha val="93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58984" y="164592"/>
            <a:ext cx="1444752" cy="869208"/>
          </a:xfrm>
          <a:prstGeom prst="rect">
            <a:avLst/>
          </a:prstGeom>
          <a:solidFill>
            <a:srgbClr val="090A0F"/>
          </a:solidFill>
          <a:ln w="12700">
            <a:solidFill>
              <a:srgbClr val="090A0F"/>
            </a:solidFill>
            <a:prstDash val="solid"/>
          </a:ln>
        </p:spPr>
      </p:sp>
      <p:pic>
        <p:nvPicPr>
          <p:cNvPr id="6" name="Image 1" descr="Logo oficial MasAl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56032"/>
            <a:ext cx="1188720" cy="686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1005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10528" y="1481328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Construyamos el primer piloto comercial de Festival Heist.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537960" y="3154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Buscamos un socio que aporte recursos, distribución o capacidades estratégicas para validar la experiencia y su modelo de negocio.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537960" y="4617720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11112" y="4713732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PRINCIPAL</a:t>
            </a:r>
            <a:endParaRPr lang="en-US" sz="740" dirty="0"/>
          </a:p>
        </p:txBody>
      </p:sp>
      <p:sp>
        <p:nvSpPr>
          <p:cNvPr id="12" name="Shape 8"/>
          <p:cNvSpPr/>
          <p:nvPr/>
        </p:nvSpPr>
        <p:spPr>
          <a:xfrm>
            <a:off x="8110728" y="4617720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4CC9F0"/>
          </a:solidFill>
          <a:ln w="12700">
            <a:solidFill>
              <a:srgbClr val="4CC9F0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83880" y="4713732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ALIADO ESTRATÉGICO</a:t>
            </a:r>
            <a:endParaRPr lang="en-US" sz="740" dirty="0"/>
          </a:p>
        </p:txBody>
      </p:sp>
      <p:sp>
        <p:nvSpPr>
          <p:cNvPr id="14" name="Shape 10"/>
          <p:cNvSpPr/>
          <p:nvPr/>
        </p:nvSpPr>
        <p:spPr>
          <a:xfrm>
            <a:off x="9683496" y="4617720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756648" y="4713732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PILOTO</a:t>
            </a:r>
            <a:endParaRPr lang="en-US" sz="740" dirty="0"/>
          </a:p>
        </p:txBody>
      </p:sp>
      <p:sp>
        <p:nvSpPr>
          <p:cNvPr id="16" name="Text 12"/>
          <p:cNvSpPr/>
          <p:nvPr/>
        </p:nvSpPr>
        <p:spPr>
          <a:xfrm>
            <a:off x="6537960" y="526694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paso: reunión de 45 minutos para definir objetivo, aporte, activación y criterios de éxito.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621792" y="647395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 Heist | Propuesta de alianza comercial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1631168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MasAlto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Festival Heist | Oportunidad comercial</dc:title>
  <dc:subject>Festival Heist - propuesta para aliados comerciales, sponsors e inversores</dc:subject>
  <dc:creator>MasAlto</dc:creator>
  <cp:lastModifiedBy>MasAlto</cp:lastModifiedBy>
  <cp:revision>1</cp:revision>
  <dcterms:created xsi:type="dcterms:W3CDTF">2026-09-15T15:14:51Z</dcterms:created>
  <dcterms:modified xsi:type="dcterms:W3CDTF">2026-09-15T15:14:51Z</dcterms:modified>
</cp:coreProperties>
</file>