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ckup conceptual de Festival He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>
              <a:alpha val="42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623560" cy="6858000"/>
          </a:xfrm>
          <a:prstGeom prst="rect">
            <a:avLst/>
          </a:prstGeom>
          <a:solidFill>
            <a:srgbClr val="090A0F">
              <a:alpha val="90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6656" y="841248"/>
            <a:ext cx="100584" cy="4480560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4128" y="93268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ALIANZA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87552" y="1353312"/>
            <a:ext cx="480060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FESTIVAL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HEIST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1024128" y="324612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festival que cada persona imagina, comparte y desafía.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24128" y="4187952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experiencia social para descubrir artistas y convertir atención en participación medible.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024128" y="5230368"/>
            <a:ext cx="2578608" cy="347472"/>
          </a:xfrm>
          <a:prstGeom prst="roundRect">
            <a:avLst>
              <a:gd name="adj" fmla="val 15789"/>
            </a:avLst>
          </a:prstGeom>
          <a:solidFill>
            <a:srgbClr val="C7F432"/>
          </a:solidFill>
          <a:ln w="12700">
            <a:solidFill>
              <a:srgbClr val="C7F432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5326380"/>
            <a:ext cx="23957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CON PRODUCTORA ALIADA</a:t>
            </a:r>
            <a:endParaRPr lang="en-US" sz="760" dirty="0"/>
          </a:p>
        </p:txBody>
      </p:sp>
      <p:sp>
        <p:nvSpPr>
          <p:cNvPr id="12" name="Shape 9"/>
          <p:cNvSpPr/>
          <p:nvPr/>
        </p:nvSpPr>
        <p:spPr>
          <a:xfrm>
            <a:off x="9875520" y="237744"/>
            <a:ext cx="1719072" cy="1021932"/>
          </a:xfrm>
          <a:prstGeom prst="rect">
            <a:avLst/>
          </a:prstGeom>
          <a:solidFill>
            <a:srgbClr val="090A0F"/>
          </a:solidFill>
          <a:ln w="12700">
            <a:solidFill>
              <a:srgbClr val="090A0F"/>
            </a:solidFill>
            <a:prstDash val="solid"/>
          </a:ln>
        </p:spPr>
      </p:sp>
      <p:pic>
        <p:nvPicPr>
          <p:cNvPr id="13" name="Image 1" descr="Logo oficial MasAl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112" y="347472"/>
            <a:ext cx="1389888" cy="8024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externa | Septiembre 2026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658600" y="64739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CDD0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7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ES FESTIVAL HEIST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juego web social de descubrimiento musical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656" y="1572768"/>
            <a:ext cx="5486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persona arma el cartel de su festival ideal. Lo comparte con los nombres ocultos. Sus amigos intentan descifrarlo.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798064"/>
            <a:ext cx="3364992" cy="2304288"/>
          </a:xfrm>
          <a:prstGeom prst="roundRect">
            <a:avLst>
              <a:gd name="adj" fmla="val 2778"/>
            </a:avLst>
          </a:prstGeom>
          <a:solidFill>
            <a:srgbClr val="12141D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3090672"/>
            <a:ext cx="475488" cy="475488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3218688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0120" y="37764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42702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Artistas, géneros y un emergente para cada escenario.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62272" y="2798064"/>
            <a:ext cx="3364992" cy="2304288"/>
          </a:xfrm>
          <a:prstGeom prst="roundRect">
            <a:avLst>
              <a:gd name="adj" fmla="val 2778"/>
            </a:avLst>
          </a:prstGeom>
          <a:solidFill>
            <a:srgbClr val="161B25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3090672"/>
            <a:ext cx="475488" cy="47548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3218688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36592" y="37764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36592" y="42702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póster personal que se convierte en desafío.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38744" y="2798064"/>
            <a:ext cx="3364992" cy="2304288"/>
          </a:xfrm>
          <a:prstGeom prst="roundRect">
            <a:avLst>
              <a:gd name="adj" fmla="val 2778"/>
            </a:avLst>
          </a:prstGeom>
          <a:solidFill>
            <a:srgbClr val="12141D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13064" y="3090672"/>
            <a:ext cx="475488" cy="475488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13064" y="3218688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513064" y="377647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DESCIFRAR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13064" y="427024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Trivia, resultado, revancha y un nuevo festival.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5650992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artista emergente forma parte de una decisión del usuario, no de una pausa publicitaria.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Definición funcional basada en la especificación v3.1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658600" y="64739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CDD0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QUEREMOS CONSEGUIR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objetivos, una misma experiencia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04088" y="1536192"/>
            <a:ext cx="5102352" cy="1627632"/>
          </a:xfrm>
          <a:prstGeom prst="roundRect">
            <a:avLst>
              <a:gd name="adj" fmla="val 3933"/>
            </a:avLst>
          </a:prstGeom>
          <a:solidFill>
            <a:srgbClr val="12141D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536192"/>
            <a:ext cx="109728" cy="1627632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88136" y="1847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88136" y="235000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 exposicion contextual a artistas emergentes y facilitar la escucha.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327648" y="1536192"/>
            <a:ext cx="5102352" cy="1627632"/>
          </a:xfrm>
          <a:prstGeom prst="roundRect">
            <a:avLst>
              <a:gd name="adj" fmla="val 3933"/>
            </a:avLst>
          </a:prstGeom>
          <a:solidFill>
            <a:srgbClr val="12141D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27648" y="1536192"/>
            <a:ext cx="109728" cy="1627632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11696" y="1847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11696" y="235000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Convertir gustos musicales en un juego compartible entre personas reales.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04088" y="3685032"/>
            <a:ext cx="5102352" cy="1627632"/>
          </a:xfrm>
          <a:prstGeom prst="roundRect">
            <a:avLst>
              <a:gd name="adj" fmla="val 3933"/>
            </a:avLst>
          </a:prstGeom>
          <a:solidFill>
            <a:srgbClr val="12141D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04088" y="3685032"/>
            <a:ext cx="109728" cy="1627632"/>
          </a:xfrm>
          <a:prstGeom prst="rect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8136" y="39959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88136" y="449884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Obtener señales iniciales de preferencia por artista, género y territorio.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327648" y="3685032"/>
            <a:ext cx="5102352" cy="1627632"/>
          </a:xfrm>
          <a:prstGeom prst="roundRect">
            <a:avLst>
              <a:gd name="adj" fmla="val 3933"/>
            </a:avLst>
          </a:prstGeom>
          <a:solidFill>
            <a:srgbClr val="12141D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7648" y="3685032"/>
            <a:ext cx="109728" cy="1627632"/>
          </a:xfrm>
          <a:prstGeom prst="rect">
            <a:avLst/>
          </a:prstGeom>
          <a:solidFill>
            <a:srgbClr val="FFE45C"/>
          </a:solidFill>
          <a:ln w="12700">
            <a:solidFill>
              <a:srgbClr val="FFE4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1696" y="39959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11696" y="4498848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Detectar oportunidades para comunicación y posibles circuitos del interior.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713232" y="598932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piloto busca evidencia para decidir la siguiente etapa; no parte de resultados garantizados.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de producto, comunicación y aprendizaje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658600" y="64739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CDD0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ckup conceptual de Festival He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>
              <a:alpha val="62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090A0F">
              <a:alpha val="90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FUNCIONA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749808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una elección personal a una historia compartida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713232" y="2331720"/>
            <a:ext cx="475488" cy="475488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2459736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417320" y="244144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Elige su line-up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3232" y="3291840"/>
            <a:ext cx="475488" cy="47548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419856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1417320" y="340156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Escucha y suma un emergente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13232" y="4251960"/>
            <a:ext cx="475488" cy="475488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4379976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417320" y="4361688"/>
            <a:ext cx="3017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un póster listo para compartir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13232" y="565099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 CONCEPTUAL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9966960" y="164592"/>
            <a:ext cx="1563624" cy="932181"/>
          </a:xfrm>
          <a:prstGeom prst="rect">
            <a:avLst/>
          </a:prstGeom>
          <a:solidFill>
            <a:srgbClr val="090A0F"/>
          </a:solidFill>
          <a:ln w="12700">
            <a:solidFill>
              <a:srgbClr val="090A0F"/>
            </a:solidFill>
            <a:prstDash val="solid"/>
          </a:ln>
        </p:spPr>
      </p:sp>
      <p:pic>
        <p:nvPicPr>
          <p:cNvPr id="18" name="Image 1" descr="Logo oficial MasAl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2" y="274320"/>
            <a:ext cx="1234440" cy="7127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Interfaz y contenido ilustrativos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11658600" y="64739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CDD0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7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PARTICIPAN SUS ARTISTAS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artista entra dentro de una decisión, no dentro de un anuncio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49808" y="1572768"/>
            <a:ext cx="475488" cy="475488"/>
          </a:xfrm>
          <a:prstGeom prst="ellipse">
            <a:avLst/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70078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463040" y="158191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CURADO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154680" y="157276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 5 artistas de la productora, con tema y links oficiales.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2624328"/>
            <a:ext cx="475488" cy="475488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75234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463040" y="26334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154680" y="262432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usuario compara previews dentro del flujo de creación.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9808" y="3675888"/>
            <a:ext cx="475488" cy="475488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80390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63040" y="368503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ELECCIÓN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154680" y="367588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artista puede integrar el festival ideal de esa persona.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9808" y="4727448"/>
            <a:ext cx="475488" cy="475488"/>
          </a:xfrm>
          <a:prstGeom prst="ellipse">
            <a:avLst/>
          </a:prstGeom>
          <a:solidFill>
            <a:srgbClr val="FFE45C"/>
          </a:solidFill>
          <a:ln w="12700">
            <a:solidFill>
              <a:srgbClr val="FFE45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855464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63040" y="473659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CIRCULACIÓN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154680" y="4727448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póster y el desafío viajan a nuevas audiencias.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20840" y="1417320"/>
            <a:ext cx="4617720" cy="4480560"/>
          </a:xfrm>
          <a:prstGeom prst="roundRect">
            <a:avLst>
              <a:gd name="adj" fmla="val 1429"/>
            </a:avLst>
          </a:prstGeom>
          <a:solidFill>
            <a:srgbClr val="10121A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14032" y="181051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REQUISITOS DE ALTA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150608" y="2487168"/>
            <a:ext cx="164592" cy="164592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245059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Tema publicado en DSP o YouTube oficial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7150608" y="3145536"/>
            <a:ext cx="164592" cy="164592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310896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directo al tema y materiales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150608" y="3803904"/>
            <a:ext cx="164592" cy="164592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43800" y="376732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Autorización y titularidad declaradas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7150608" y="4462272"/>
            <a:ext cx="164592" cy="164592"/>
          </a:xfrm>
          <a:prstGeom prst="ellipse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44256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Compromiso de activación coordinada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7114032" y="53218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aprobación final es manual antes de entrar en rotación.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Participación sujeta a validación y permisos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658600" y="64739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CDD0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7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ES UNA GRAN OPORTUNIDAD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impresión pasiva a una elección con significado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4944" y="1554480"/>
            <a:ext cx="3977640" cy="4343400"/>
          </a:xfrm>
          <a:prstGeom prst="roundRect">
            <a:avLst>
              <a:gd name="adj" fmla="val 1609"/>
            </a:avLst>
          </a:prstGeom>
          <a:solidFill>
            <a:srgbClr val="11131A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9202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DIFUSION CONVENCIONAL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4128" y="2651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34015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4128" y="41513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Recordar o no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10912" y="3621024"/>
            <a:ext cx="1051560" cy="0"/>
          </a:xfrm>
          <a:prstGeom prst="line">
            <a:avLst/>
          </a:prstGeom>
          <a:noFill/>
          <a:ln w="38100">
            <a:solidFill>
              <a:srgbClr val="C7F43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19088" y="1554480"/>
            <a:ext cx="5029200" cy="4343400"/>
          </a:xfrm>
          <a:prstGeom prst="roundRect">
            <a:avLst>
              <a:gd name="adj" fmla="val 1474"/>
            </a:avLst>
          </a:prstGeom>
          <a:solidFill>
            <a:srgbClr val="1B1E2B"/>
          </a:solidFill>
          <a:ln w="10160">
            <a:solidFill>
              <a:srgbClr val="F72585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84848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FESTIVAL HEIST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84848" y="2615184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76288" y="2711196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ESCUCHAR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8796528" y="2615184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4CC9F0"/>
          </a:solidFill>
          <a:ln w="12700">
            <a:solidFill>
              <a:srgbClr val="4CC9F0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87968" y="2711196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6784848" y="3392424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C7F432"/>
          </a:solidFill>
          <a:ln w="12700">
            <a:solidFill>
              <a:srgbClr val="C7F43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6288" y="3488436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ELEGIR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8796528" y="3392424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FFE45C"/>
          </a:solidFill>
          <a:ln w="12700">
            <a:solidFill>
              <a:srgbClr val="FFE45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87968" y="3488436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COMPARTIR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6784848" y="4169664"/>
            <a:ext cx="1645920" cy="347472"/>
          </a:xfrm>
          <a:prstGeom prst="roundRect">
            <a:avLst>
              <a:gd name="adj" fmla="val 15789"/>
            </a:avLst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4265676"/>
            <a:ext cx="14630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DESAFIAR</a:t>
            </a:r>
            <a:endParaRPr lang="en-US" sz="760" dirty="0"/>
          </a:p>
        </p:txBody>
      </p:sp>
      <p:sp>
        <p:nvSpPr>
          <p:cNvPr id="22" name="Text 20"/>
          <p:cNvSpPr/>
          <p:nvPr/>
        </p:nvSpPr>
        <p:spPr>
          <a:xfrm>
            <a:off x="6784848" y="5138928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productora participa desde el comienzo y accede a aprendizajes compartidos.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Oportunidad de participación temprana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658600" y="64739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CDD0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ckup conceptual de Festival He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>
              <a:alpha val="66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5074920" cy="6858000"/>
          </a:xfrm>
          <a:prstGeom prst="rect">
            <a:avLst/>
          </a:prstGeom>
          <a:solidFill>
            <a:srgbClr val="090A0F">
              <a:alpha val="95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8368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PODRÁ MEDIR LA ALIANZA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368" y="749808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reporte para entender qué despierta cada artista</a:t>
            </a:r>
            <a:endParaRPr lang="en-US" sz="3100" dirty="0"/>
          </a:p>
        </p:txBody>
      </p:sp>
      <p:sp>
        <p:nvSpPr>
          <p:cNvPr id="7" name="Shape 4"/>
          <p:cNvSpPr/>
          <p:nvPr/>
        </p:nvSpPr>
        <p:spPr>
          <a:xfrm>
            <a:off x="731520" y="2432304"/>
            <a:ext cx="164592" cy="164592"/>
          </a:xfrm>
          <a:prstGeom prst="ellipse">
            <a:avLst/>
          </a:prstGeom>
          <a:solidFill>
            <a:srgbClr val="C7F432"/>
          </a:solidFill>
          <a:ln w="12700">
            <a:solidFill>
              <a:srgbClr val="090A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377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Apariciones y escuchas iniciadas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2999232"/>
            <a:ext cx="164592" cy="164592"/>
          </a:xfrm>
          <a:prstGeom prst="ellipse">
            <a:avLst/>
          </a:prstGeom>
          <a:solidFill>
            <a:srgbClr val="4CC9F0"/>
          </a:solidFill>
          <a:ln w="12700">
            <a:solidFill>
              <a:srgbClr val="090A0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294436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Elecciones sobre exposiciones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3566160"/>
            <a:ext cx="164592" cy="164592"/>
          </a:xfrm>
          <a:prstGeom prst="ellipse">
            <a:avLst/>
          </a:prstGeom>
          <a:solidFill>
            <a:srgbClr val="C7F432"/>
          </a:solidFill>
          <a:ln w="12700">
            <a:solidFill>
              <a:srgbClr val="090A0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35112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Compartidos y desafíos generados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4133088"/>
            <a:ext cx="164592" cy="164592"/>
          </a:xfrm>
          <a:prstGeom prst="ellipse">
            <a:avLst/>
          </a:prstGeom>
          <a:solidFill>
            <a:srgbClr val="4CC9F0"/>
          </a:solidFill>
          <a:ln w="12700">
            <a:solidFill>
              <a:srgbClr val="090A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407822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Afinidad por género y territorio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4700016"/>
            <a:ext cx="164592" cy="164592"/>
          </a:xfrm>
          <a:prstGeom prst="ellipse">
            <a:avLst/>
          </a:prstGeom>
          <a:solidFill>
            <a:srgbClr val="C7F432"/>
          </a:solidFill>
          <a:ln w="12700">
            <a:solidFill>
              <a:srgbClr val="090A0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7280" y="46451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Clics hacia plataformas oficiales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13232" y="5413248"/>
            <a:ext cx="4114800" cy="658368"/>
          </a:xfrm>
          <a:prstGeom prst="roundRect">
            <a:avLst>
              <a:gd name="adj" fmla="val 9722"/>
            </a:avLst>
          </a:prstGeom>
          <a:solidFill>
            <a:srgbClr val="1B1E2B">
              <a:alpha val="95000"/>
            </a:srgbClr>
          </a:solidFill>
          <a:ln w="10160">
            <a:solidFill>
              <a:srgbClr val="343847">
                <a:alpha val="8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5577840"/>
            <a:ext cx="3639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Entregable comprometible: reporte y reunión de aprendizaje. El volumen de resultados no se garantiza.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6492240" y="5715000"/>
            <a:ext cx="4846320" cy="420624"/>
          </a:xfrm>
          <a:prstGeom prst="roundRect">
            <a:avLst>
              <a:gd name="adj" fmla="val 15217"/>
            </a:avLst>
          </a:prstGeom>
          <a:solidFill>
            <a:srgbClr val="FFE45C"/>
          </a:solidFill>
          <a:ln w="10160">
            <a:solidFill>
              <a:srgbClr val="FFE45C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93408" y="5852160"/>
            <a:ext cx="4443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 DE REPORTE · DATOS SIMULADOS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9966960" y="164592"/>
            <a:ext cx="1563624" cy="932181"/>
          </a:xfrm>
          <a:prstGeom prst="rect">
            <a:avLst/>
          </a:prstGeom>
          <a:solidFill>
            <a:srgbClr val="090A0F"/>
          </a:solidFill>
          <a:ln w="12700">
            <a:solidFill>
              <a:srgbClr val="090A0F"/>
            </a:solidFill>
            <a:prstDash val="solid"/>
          </a:ln>
        </p:spPr>
      </p:sp>
      <p:pic>
        <p:nvPicPr>
          <p:cNvPr id="22" name="Image 1" descr="Logo oficial MasAl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552" y="274320"/>
            <a:ext cx="1234440" cy="712725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 conceptual; no representa resultados obtenidos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11658600" y="64739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CDD0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7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MOTOR DE VIRALIDAD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contenido no termina al compartirse: invita a jugar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05840" y="2514600"/>
            <a:ext cx="1965960" cy="749808"/>
          </a:xfrm>
          <a:prstGeom prst="roundRect">
            <a:avLst>
              <a:gd name="adj" fmla="val 8537"/>
            </a:avLst>
          </a:prstGeom>
          <a:solidFill>
            <a:srgbClr val="1B1E2B"/>
          </a:solidFill>
          <a:ln w="10160">
            <a:solidFill>
              <a:srgbClr val="F72585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33856" y="2761488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0" y="1600200"/>
            <a:ext cx="1965960" cy="749808"/>
          </a:xfrm>
          <a:prstGeom prst="roundRect">
            <a:avLst>
              <a:gd name="adj" fmla="val 8537"/>
            </a:avLst>
          </a:prstGeom>
          <a:solidFill>
            <a:srgbClr val="1B1E2B"/>
          </a:solidFill>
          <a:ln w="10160">
            <a:solidFill>
              <a:srgbClr val="4CC9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785616" y="1847088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DESAFÍO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1600200"/>
            <a:ext cx="1965960" cy="749808"/>
          </a:xfrm>
          <a:prstGeom prst="roundRect">
            <a:avLst>
              <a:gd name="adj" fmla="val 8537"/>
            </a:avLst>
          </a:prstGeom>
          <a:solidFill>
            <a:srgbClr val="1B1E2B"/>
          </a:solidFill>
          <a:ln w="10160">
            <a:solidFill>
              <a:srgbClr val="C7F432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57416" y="1847088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DESCIFRAN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81160" y="2514600"/>
            <a:ext cx="1965960" cy="749808"/>
          </a:xfrm>
          <a:prstGeom prst="roundRect">
            <a:avLst>
              <a:gd name="adj" fmla="val 8537"/>
            </a:avLst>
          </a:prstGeom>
          <a:solidFill>
            <a:srgbClr val="1B1E2B"/>
          </a:solidFill>
          <a:ln w="10160">
            <a:solidFill>
              <a:srgbClr val="FFE45C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409176" y="2761488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4434840"/>
            <a:ext cx="1965960" cy="749808"/>
          </a:xfrm>
          <a:prstGeom prst="roundRect">
            <a:avLst>
              <a:gd name="adj" fmla="val 8537"/>
            </a:avLst>
          </a:prstGeom>
          <a:solidFill>
            <a:srgbClr val="1B1E2B"/>
          </a:solidFill>
          <a:ln w="10160">
            <a:solidFill>
              <a:srgbClr val="F72585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57416" y="4681728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CREAN EL SUYO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0" y="4434840"/>
            <a:ext cx="1965960" cy="749808"/>
          </a:xfrm>
          <a:prstGeom prst="roundRect">
            <a:avLst>
              <a:gd name="adj" fmla="val 8537"/>
            </a:avLst>
          </a:prstGeom>
          <a:solidFill>
            <a:srgbClr val="1B1E2B"/>
          </a:solidFill>
          <a:ln w="10160">
            <a:solidFill>
              <a:srgbClr val="4CC9F0"/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85616" y="4681728"/>
            <a:ext cx="1709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REVANCHA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99232" y="2788920"/>
            <a:ext cx="566928" cy="-530352"/>
          </a:xfrm>
          <a:prstGeom prst="line">
            <a:avLst/>
          </a:prstGeom>
          <a:noFill/>
          <a:ln w="29210">
            <a:solidFill>
              <a:srgbClr val="F7258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41848" y="1975104"/>
            <a:ext cx="749808" cy="0"/>
          </a:xfrm>
          <a:prstGeom prst="line">
            <a:avLst/>
          </a:prstGeom>
          <a:noFill/>
          <a:ln w="2921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13648" y="2011680"/>
            <a:ext cx="566928" cy="640080"/>
          </a:xfrm>
          <a:prstGeom prst="line">
            <a:avLst/>
          </a:prstGeom>
          <a:noFill/>
          <a:ln w="29210">
            <a:solidFill>
              <a:srgbClr val="C7F43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38360" y="3429000"/>
            <a:ext cx="-1097280" cy="914400"/>
          </a:xfrm>
          <a:prstGeom prst="line">
            <a:avLst/>
          </a:prstGeom>
          <a:noFill/>
          <a:ln w="29210">
            <a:solidFill>
              <a:srgbClr val="FFE45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446520" y="4800600"/>
            <a:ext cx="-713232" cy="0"/>
          </a:xfrm>
          <a:prstGeom prst="line">
            <a:avLst/>
          </a:prstGeom>
          <a:noFill/>
          <a:ln w="29210">
            <a:solidFill>
              <a:srgbClr val="F7258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584448" y="4773168"/>
            <a:ext cx="-1389888" cy="-1261872"/>
          </a:xfrm>
          <a:prstGeom prst="line">
            <a:avLst/>
          </a:prstGeom>
          <a:noFill/>
          <a:ln w="29210">
            <a:solidFill>
              <a:srgbClr val="4CC9F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097280" y="5779008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LOGIN  +  CURIOSIDAD SOCIAL  +  RECONOCIMIENTO  +  REVANCHA  +  CTA PARA CREAR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Mecanismos a validar durante el piloto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658600" y="64739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CDD0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7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PUEDE FUNCIONAR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Seis decisiones que aumentan la probabilidad de adopción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4944" y="1572768"/>
            <a:ext cx="3364992" cy="1600200"/>
          </a:xfrm>
          <a:prstGeom prst="roundRect">
            <a:avLst>
              <a:gd name="adj" fmla="val 4000"/>
            </a:avLst>
          </a:prstGeom>
          <a:solidFill>
            <a:srgbClr val="12141D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1847088"/>
            <a:ext cx="457200" cy="82296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1671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LOGIN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41832" y="259689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Entrada directa al juego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471416" y="1572768"/>
            <a:ext cx="3364992" cy="1600200"/>
          </a:xfrm>
          <a:prstGeom prst="roundRect">
            <a:avLst>
              <a:gd name="adj" fmla="val 4000"/>
            </a:avLst>
          </a:prstGeom>
          <a:solidFill>
            <a:srgbClr val="12141D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847088"/>
            <a:ext cx="457200" cy="82296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18304" y="21671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FAMILIAR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18304" y="259689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poster se entiende en segundos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247888" y="1572768"/>
            <a:ext cx="3364992" cy="1600200"/>
          </a:xfrm>
          <a:prstGeom prst="roundRect">
            <a:avLst>
              <a:gd name="adj" fmla="val 4000"/>
            </a:avLst>
          </a:prstGeom>
          <a:solidFill>
            <a:srgbClr val="12141D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85632" y="1847088"/>
            <a:ext cx="457200" cy="82296"/>
          </a:xfrm>
          <a:prstGeom prst="rect">
            <a:avLst/>
          </a:prstGeom>
          <a:solidFill>
            <a:srgbClr val="C7F432"/>
          </a:solidFill>
          <a:ln w="12700">
            <a:solidFill>
              <a:srgbClr val="C7F4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94776" y="21671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 PERSONAL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94776" y="2596896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line-up habla de quien lo crea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94944" y="3648456"/>
            <a:ext cx="3364992" cy="1600200"/>
          </a:xfrm>
          <a:prstGeom prst="roundRect">
            <a:avLst>
              <a:gd name="adj" fmla="val 4000"/>
            </a:avLst>
          </a:prstGeom>
          <a:solidFill>
            <a:srgbClr val="12141D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2688" y="3922776"/>
            <a:ext cx="457200" cy="82296"/>
          </a:xfrm>
          <a:prstGeom prst="rect">
            <a:avLst/>
          </a:prstGeom>
          <a:solidFill>
            <a:srgbClr val="FFE45C"/>
          </a:solidFill>
          <a:ln w="12700">
            <a:solidFill>
              <a:srgbClr val="FFE4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42428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COMPETENCIA SOCIAL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41832" y="467258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Trivia, récord y revancha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471416" y="3648456"/>
            <a:ext cx="3364992" cy="1600200"/>
          </a:xfrm>
          <a:prstGeom prst="roundRect">
            <a:avLst>
              <a:gd name="adj" fmla="val 4000"/>
            </a:avLst>
          </a:prstGeom>
          <a:solidFill>
            <a:srgbClr val="12141D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922776"/>
            <a:ext cx="457200" cy="82296"/>
          </a:xfrm>
          <a:prstGeom prst="rect">
            <a:avLst/>
          </a:prstGeom>
          <a:solidFill>
            <a:srgbClr val="F72585"/>
          </a:solidFill>
          <a:ln w="12700">
            <a:solidFill>
              <a:srgbClr val="F7258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42428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DESCUBRIMIENTO NATIVO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18304" y="467258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Escuchar y elegir dentro del flujo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247888" y="3648456"/>
            <a:ext cx="3364992" cy="1600200"/>
          </a:xfrm>
          <a:prstGeom prst="roundRect">
            <a:avLst>
              <a:gd name="adj" fmla="val 4000"/>
            </a:avLst>
          </a:prstGeom>
          <a:solidFill>
            <a:srgbClr val="12141D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85632" y="3922776"/>
            <a:ext cx="457200" cy="82296"/>
          </a:xfrm>
          <a:prstGeom prst="rect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94776" y="424281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 DESDE EL INICIO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94776" y="4672584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Eventos, denominadores y reporte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713232" y="5815584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E4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fundamentos de diseño, no garantías. El piloto medirá cuáles sostienen participación y propagación real.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Factores de adopción y viralidad a validar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1658600" y="64739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CDD0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38912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 CONJUNTO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658368" y="749808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semanas activas, responsabilidades claras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4944" y="1463040"/>
            <a:ext cx="5230368" cy="3547872"/>
          </a:xfrm>
          <a:prstGeom prst="roundRect">
            <a:avLst>
              <a:gd name="adj" fmla="val 1804"/>
            </a:avLst>
          </a:prstGeom>
          <a:solidFill>
            <a:srgbClr val="12141D"/>
          </a:solidFill>
          <a:ln w="10160">
            <a:solidFill>
              <a:srgbClr val="343847">
                <a:alpha val="8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4128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PRODUCTORA APORTA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4128" y="2450592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3 a 5 artistas y un tema por artista</a:t>
            </a:r>
            <a:endParaRPr lang="en-US" sz="1130" dirty="0"/>
          </a:p>
        </p:txBody>
      </p:sp>
      <p:sp>
        <p:nvSpPr>
          <p:cNvPr id="7" name="Text 5"/>
          <p:cNvSpPr/>
          <p:nvPr/>
        </p:nvSpPr>
        <p:spPr>
          <a:xfrm>
            <a:off x="1024128" y="298094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Links, materiales y autorizaciones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1024128" y="351129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Una activación inicial coordinada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1024128" y="404164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Un responsable de seguimiento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230368" cy="3547872"/>
          </a:xfrm>
          <a:prstGeom prst="roundRect">
            <a:avLst>
              <a:gd name="adj" fmla="val 1804"/>
            </a:avLst>
          </a:prstGeom>
          <a:solidFill>
            <a:srgbClr val="1B1E2B"/>
          </a:solidFill>
          <a:ln w="10160">
            <a:solidFill>
              <a:srgbClr val="E30613">
                <a:alpha val="45000"/>
              </a:srgbClr>
            </a:solidFill>
            <a:prstDash val="solid"/>
          </a:ln>
          <a:effectLst>
            <a:outerShdw sx="100000" sy="100000" kx="0" ky="0" algn="bl" rotWithShape="0" blurRad="38100" dist="19050" dir="27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01968" y="18105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MASALTO APORTA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601968" y="2450592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Curaduría e integración al pool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6601968" y="2980944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Operación y seguimiento del piloto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6601968" y="3511296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Kit de comunicación compartido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6601968" y="4041648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Reporte y reunión de aprendizaje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749808" y="5449824"/>
            <a:ext cx="2304288" cy="347472"/>
          </a:xfrm>
          <a:prstGeom prst="roundRect">
            <a:avLst>
              <a:gd name="adj" fmla="val 15789"/>
            </a:avLst>
          </a:prstGeom>
          <a:solidFill>
            <a:srgbClr val="F72585"/>
          </a:solidFill>
          <a:ln w="12700">
            <a:solidFill>
              <a:srgbClr val="F7258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545836"/>
            <a:ext cx="21214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SELECCIÓN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3520440" y="5449824"/>
            <a:ext cx="2304288" cy="347472"/>
          </a:xfrm>
          <a:prstGeom prst="roundRect">
            <a:avLst>
              <a:gd name="adj" fmla="val 15789"/>
            </a:avLst>
          </a:prstGeom>
          <a:solidFill>
            <a:srgbClr val="4CC9F0"/>
          </a:solidFill>
          <a:ln w="12700">
            <a:solidFill>
              <a:srgbClr val="4CC9F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5545836"/>
            <a:ext cx="21214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CONFIGURACIÓN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6291072" y="5449824"/>
            <a:ext cx="2304288" cy="347472"/>
          </a:xfrm>
          <a:prstGeom prst="roundRect">
            <a:avLst>
              <a:gd name="adj" fmla="val 15789"/>
            </a:avLst>
          </a:prstGeom>
          <a:solidFill>
            <a:srgbClr val="C7F432"/>
          </a:solidFill>
          <a:ln w="12700">
            <a:solidFill>
              <a:srgbClr val="C7F43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82512" y="5545836"/>
            <a:ext cx="21214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ACTIVACIÓN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9061704" y="5449824"/>
            <a:ext cx="2304288" cy="347472"/>
          </a:xfrm>
          <a:prstGeom prst="roundRect">
            <a:avLst>
              <a:gd name="adj" fmla="val 15789"/>
            </a:avLst>
          </a:prstGeom>
          <a:solidFill>
            <a:srgbClr val="FFE45C"/>
          </a:solidFill>
          <a:ln w="12700">
            <a:solidFill>
              <a:srgbClr val="FFE45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53144" y="5545836"/>
            <a:ext cx="212140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REPORTE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Continuidad sujeta a resultados y acuerdo de ambas partes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658600" y="64739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CDD0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7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ckup conceptual de Festival Hei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A0F">
              <a:alpha val="54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090A0F">
              <a:alpha val="94000"/>
            </a:srgbClr>
          </a:solidFill>
          <a:ln w="12700">
            <a:solidFill>
              <a:srgbClr val="090A0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21240" y="237744"/>
            <a:ext cx="1627632" cy="969137"/>
          </a:xfrm>
          <a:prstGeom prst="rect">
            <a:avLst/>
          </a:prstGeom>
          <a:solidFill>
            <a:srgbClr val="090A0F"/>
          </a:solidFill>
          <a:ln w="12700">
            <a:solidFill>
              <a:srgbClr val="090A0F"/>
            </a:solidFill>
            <a:prstDash val="solid"/>
          </a:ln>
        </p:spPr>
      </p:sp>
      <p:pic>
        <p:nvPicPr>
          <p:cNvPr id="6" name="Image 1" descr="Logo oficial MasAl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5832" y="347472"/>
            <a:ext cx="1298448" cy="7496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20840" y="1115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7F4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INVITACIÓN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6675120" y="1572768"/>
            <a:ext cx="46177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Sumemos sus artistas al primer festival que se construye jugando.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6720840" y="380390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 paso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720840" y="424281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7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Seleccionar entre 3 y 5 artistas y un tema oficial por artista para evaluar su ingreso al piloto.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720840" y="5321808"/>
            <a:ext cx="2514600" cy="347472"/>
          </a:xfrm>
          <a:prstGeom prst="roundRect">
            <a:avLst>
              <a:gd name="adj" fmla="val 15789"/>
            </a:avLst>
          </a:prstGeom>
          <a:solidFill>
            <a:srgbClr val="C7F432"/>
          </a:solidFill>
          <a:ln w="12700">
            <a:solidFill>
              <a:srgbClr val="C7F432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12280" y="5417820"/>
            <a:ext cx="2331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9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ARMEMOS EL POOL ALIADO</a:t>
            </a:r>
            <a:endParaRPr lang="en-US" sz="760" dirty="0"/>
          </a:p>
        </p:txBody>
      </p:sp>
      <p:sp>
        <p:nvSpPr>
          <p:cNvPr id="13" name="Text 9"/>
          <p:cNvSpPr/>
          <p:nvPr/>
        </p:nvSpPr>
        <p:spPr>
          <a:xfrm>
            <a:off x="9464040" y="542239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FESTIVAL HEIST · PILOTO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594360" y="6473952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DD0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alianza para piloto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1658600" y="647395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CDD0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MasAlto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Festival Heist | Productora aliada</dc:title>
  <dc:subject>Festival Heist - propuesta para productora aliada</dc:subject>
  <dc:creator>MasAlto</dc:creator>
  <cp:lastModifiedBy>MasAlto</cp:lastModifiedBy>
  <cp:revision>1</cp:revision>
  <dcterms:created xsi:type="dcterms:W3CDTF">2026-09-15T14:41:25Z</dcterms:created>
  <dcterms:modified xsi:type="dcterms:W3CDTF">2026-09-15T14:41:25Z</dcterms:modified>
</cp:coreProperties>
</file>